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474720" cy="3474720"/>
          </a:xfrm>
          <a:prstGeom prst="ellipse">
            <a:avLst/>
          </a:prstGeom>
          <a:solidFill>
            <a:srgbClr val="243C75"/>
          </a:solidFill>
          <a:ln w="12700">
            <a:solidFill>
              <a:srgbClr val="243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743200" cy="347472"/>
          </a:xfrm>
          <a:prstGeom prst="roundRect">
            <a:avLst>
              <a:gd name="adj" fmla="val 13158"/>
            </a:avLst>
          </a:prstGeom>
          <a:solidFill>
            <a:srgbClr val="2E6F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02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 Science &amp; Machine Learning Project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Dashboard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B5D8"/>
                </a:solidFill>
              </a:rPr>
              <a:t>Telco Dataset  ·  7,043 Customers  ·  3-Page Interactive Dashboard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01568"/>
            <a:ext cx="3657600" cy="36576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4787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Rawda Hesham Elsayed Nada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9CC4"/>
                </a:solidFill>
              </a:rPr>
              <a:t>Dataset: https://drive.google.com/file/d/17VbXZPUjx3Xzho_fVNbszbf0wmALx05v/view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1879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CC4"/>
                </a:solidFill>
              </a:rPr>
              <a:t>Data cleaned &amp; prepared in Excel before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914400"/>
            <a:ext cx="1143000" cy="1005840"/>
          </a:xfrm>
          <a:prstGeom prst="rect">
            <a:avLst/>
          </a:prstGeom>
          <a:solidFill>
            <a:srgbClr val="203870"/>
          </a:solidFill>
          <a:ln w="6350">
            <a:solidFill>
              <a:srgbClr val="2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00584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7,043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Customers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914400"/>
            <a:ext cx="1143000" cy="1005840"/>
          </a:xfrm>
          <a:prstGeom prst="rect">
            <a:avLst/>
          </a:prstGeom>
          <a:solidFill>
            <a:srgbClr val="203870"/>
          </a:solidFill>
          <a:ln w="6350">
            <a:solidFill>
              <a:srgbClr val="2E6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100584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26.5%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15087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2286000"/>
            <a:ext cx="1143000" cy="1005840"/>
          </a:xfrm>
          <a:prstGeom prst="rect">
            <a:avLst/>
          </a:prstGeom>
          <a:solidFill>
            <a:srgbClr val="203870"/>
          </a:solidFill>
          <a:ln w="6350">
            <a:solidFill>
              <a:srgbClr val="2E6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37744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80.4%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AI Accuracy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3840" y="2286000"/>
            <a:ext cx="1143000" cy="1005840"/>
          </a:xfrm>
          <a:prstGeom prst="rect">
            <a:avLst/>
          </a:prstGeom>
          <a:solidFill>
            <a:srgbClr val="203870"/>
          </a:solidFill>
          <a:ln w="6350">
            <a:solidFill>
              <a:srgbClr val="2E6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0" y="237744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0.843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63840" y="288036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AUC-ROC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4572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914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Business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</a:rPr>
              <a:t>High churn rate (26.5%) causes significant revenue loss. Retaining existing customers is 5× cheaper than acquiring new ones.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651760" cy="45720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10" name="Text 8"/>
          <p:cNvSpPr/>
          <p:nvPr/>
        </p:nvSpPr>
        <p:spPr>
          <a:xfrm>
            <a:off x="3310128" y="914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Research Objective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</a:rPr>
              <a:t>Build an ML model predicting churn probability and integrate results into an interactive Power BI dashboard.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91440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14400"/>
            <a:ext cx="2651760" cy="457200"/>
          </a:xfrm>
          <a:prstGeom prst="rect">
            <a:avLst/>
          </a:prstGeom>
          <a:solidFill>
            <a:srgbClr val="0D8A65"/>
          </a:solidFill>
          <a:ln/>
        </p:spPr>
      </p:sp>
      <p:sp>
        <p:nvSpPr>
          <p:cNvPr id="14" name="Text 12"/>
          <p:cNvSpPr/>
          <p:nvPr/>
        </p:nvSpPr>
        <p:spPr>
          <a:xfrm>
            <a:off x="6190488" y="914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Methodology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2"/>
                </a:solidFill>
              </a:rPr>
              <a:t>Excel data cleaning → Python ML modeling (Gradient Boosting) → Export predictions → Power BI 3-page dashboard.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40480"/>
            <a:ext cx="8503920" cy="841248"/>
          </a:xfrm>
          <a:prstGeom prst="rect">
            <a:avLst/>
          </a:prstGeom>
          <a:solidFill>
            <a:srgbClr val="EBF3FF"/>
          </a:solidFill>
          <a:ln w="6350">
            <a:solidFill>
              <a:srgbClr val="BDD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840480"/>
            <a:ext cx="73152" cy="841248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Data 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8795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The raw dataset was cleaned in Excel before analysis: removed duplicates, handled blank TotalCharges, standardized categorical values, and engineered new features (AvgCharges, services_num, Tenure Group, Risk Level).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Cleaning — Excel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BB5D8"/>
                </a:solidFill>
              </a:rPr>
              <a:t>Dataset: drive.google.com/file/d/17VbXZPUjx3Xzho_fVNbszbf0wmALx05v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30352" cy="114300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Remove Duplicates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3716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Identified and removed duplicate customerID rows to ensure data integrity.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530352" cy="1143000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91440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85232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Handle Missing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13716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Filled blank TotalCharges with calculated values (tenure × MonthlyCharges).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240280"/>
            <a:ext cx="530352" cy="1143000"/>
          </a:xfrm>
          <a:prstGeom prst="rect">
            <a:avLst/>
          </a:prstGeom>
          <a:solidFill>
            <a:srgbClr val="0D8A65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24028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23500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Standardize Categories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1832" y="2697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Unified inconsistent labels in Contract, InternetService, and PaymentMethod columns.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402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40280"/>
            <a:ext cx="530352" cy="1143000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24028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85232" y="23500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Engineer New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85232" y="26974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Created: AvgCharges, services_num, Tenure Group, Risk Level, is_new_customer.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566160"/>
            <a:ext cx="530352" cy="11430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56616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1832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Validate Data Types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1832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Ensured numeric columns (MonthlyCharges, tenure) are correctly typed for analysis.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56616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566160"/>
            <a:ext cx="530352" cy="11430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3566160"/>
            <a:ext cx="530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85232" y="3675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Export Clean Dataset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40233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Saved final cleaned file as churn_predictions.xlsx — ready for Power BI import.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— Page 1: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20240" cy="256032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6FC4"/>
                </a:solidFill>
              </a:rPr>
              <a:t>7,043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2"/>
                </a:solidFill>
              </a:rPr>
              <a:t>Full dataset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20240" cy="256032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Churned Customers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4040"/>
                </a:solidFill>
              </a:rPr>
              <a:t>1,869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2"/>
                </a:solidFill>
              </a:rPr>
              <a:t>↑ 26.5%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1772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14400"/>
            <a:ext cx="1920240" cy="256032"/>
          </a:xfrm>
          <a:prstGeom prst="rect">
            <a:avLst/>
          </a:prstGeom>
          <a:solidFill>
            <a:srgbClr val="0D8A65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Retained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8A65"/>
                </a:solidFill>
              </a:rPr>
              <a:t>5,174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1600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2"/>
                </a:solidFill>
              </a:rPr>
              <a:t>73.5% retention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91440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14400"/>
            <a:ext cx="1920240" cy="256032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Revenue Lost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66560" y="11887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890A"/>
                </a:solidFill>
              </a:rPr>
              <a:t>$139K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600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2"/>
                </a:solidFill>
              </a:rPr>
              <a:t>Monthly charges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011680"/>
            <a:ext cx="40690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011680"/>
            <a:ext cx="73152" cy="1170432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Churn Rate by Contract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24231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Bar chart — Month-to-month 42.7%  ·  One year 11.3%  ·  Two year 2.8%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0690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011680"/>
            <a:ext cx="73152" cy="117043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Churn Rate by Tenure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24231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Bar chart — Customers &lt; 12 months show highest churn. 4+ year customers are lowest.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383280"/>
            <a:ext cx="40690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383280"/>
            <a:ext cx="73152" cy="1170432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Churn vs Retained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" y="37947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Donut chart — 26.5% churned (1,869) vs 73.5% retained (5,174).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383280"/>
            <a:ext cx="40690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383280"/>
            <a:ext cx="73152" cy="1170432"/>
          </a:xfrm>
          <a:prstGeom prst="rect">
            <a:avLst/>
          </a:prstGeom>
          <a:solidFill>
            <a:srgbClr val="0D8A65"/>
          </a:solidFill>
          <a:ln/>
        </p:spPr>
      </p:sp>
      <p:sp>
        <p:nvSpPr>
          <p:cNvPr id="38" name="Text 36"/>
          <p:cNvSpPr/>
          <p:nvPr/>
        </p:nvSpPr>
        <p:spPr>
          <a:xfrm>
            <a:off x="487375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AI Model Card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73752" y="379476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Gradient Boosting accuracy 80.4% displayed as KPI card — integrated in overview.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BF3FF"/>
          </a:solidFill>
          <a:ln w="3810">
            <a:solidFill>
              <a:srgbClr val="BDD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Slicers: Contract Type  ·  Gender  ·  Internet Service — filter all visuals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— Page 2: Revenue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468880" cy="749808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$456K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Total Monthly Revenue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54680" y="914400"/>
            <a:ext cx="2468880" cy="749808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$139K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1546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Revenue Lost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89320" y="914400"/>
            <a:ext cx="2468880" cy="749808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914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30.5%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8932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Revenue Loss 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4069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74520"/>
            <a:ext cx="73152" cy="1325880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Scatter: tenure vs MonthlyCharges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3134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Colored by Churn — reveals high-risk cluster: short tenure + high charges = likely churner. Clear spatial separation between churned and retained.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874520"/>
            <a:ext cx="4069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74520"/>
            <a:ext cx="73152" cy="13258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Revenue Lost by Charge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73752" y="23134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Bar chart — Premium ($90+) segment contributes highest revenue loss. Low tier (&lt;$30) shows minimal impact.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4069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73152" cy="132588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Avg Charge: Churned vs Retained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8221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Pie chart — Churned customers pay higher avg monthly charges ($74.4) vs retained ($61.3), suggesting price sensitivity.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0690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383280"/>
            <a:ext cx="73152" cy="1325880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3474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Matrix: Contract × Payment Method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38221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Pivot table — Electronic check + Month-to-month is highest churn combination. Bank transfer users show lowest churn.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Dashboard — Page 3: Customer Segments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16916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Churn Rate by Risk Level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Bar chart — High Risk customers show 78%+ churn probability. Medium 35–60%. Low &lt; 15%. Validates model segmentation.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73152" cy="169164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Churn Rate by Internet Service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Bar chart — Fiber Optic 41.9%  ·  DSL 19.0%  ·  No Internet 7.4%. Service quality issue in Fiber segment.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34640"/>
            <a:ext cx="73152" cy="1691640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944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Customer Segment 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Donut chart — Single / Couple / Family / Senior segments. Senior customers show higher churn despite smaller 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73152" cy="1691640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9443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</a:rPr>
              <a:t>High Risk Customer 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32918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Grid table with customerID, Contract, Tenure, MonthlyCharges — sorted by Churn Probability. Conditional formatting: red &gt; 75%, amber 50–75%.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EBF3FF"/>
          </a:solidFill>
          <a:ln w="3810">
            <a:solidFill>
              <a:srgbClr val="BDD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2"/>
                </a:solidFill>
              </a:rPr>
              <a:t>Action Item: Use this page as a daily action list — contact High Risk customers with targeted retention offers before they churn.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Model — Results &amp;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</a:rPr>
              <a:t>Model Comparison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502920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 (Churn)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Logistic 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74.2%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0.845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0.62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78.9%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0.818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0.55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8A65"/>
                          </a:solidFill>
                        </a:rPr>
                        <a:t>Gradient Boosting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8A65"/>
                          </a:solidFill>
                        </a:rPr>
                        <a:t>80.4%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8A65"/>
                          </a:solidFill>
                        </a:rPr>
                        <a:t>0.843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8A65"/>
                          </a:solidFill>
                        </a:rPr>
                        <a:t>0.58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</a:rPr>
              <a:t>Best Model — Gradient Boosting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577840" y="1261872"/>
            <a:ext cx="1508760" cy="749808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316736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80.4%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577840" y="177393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Accuracy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223760" y="1261872"/>
            <a:ext cx="1508760" cy="749808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11" name="Text 8"/>
          <p:cNvSpPr/>
          <p:nvPr/>
        </p:nvSpPr>
        <p:spPr>
          <a:xfrm>
            <a:off x="7223760" y="1316736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0.843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23760" y="177393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AUC-ROC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7840" y="2130552"/>
            <a:ext cx="1508760" cy="749808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2185416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67%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577840" y="264261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Precision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223760" y="2130552"/>
            <a:ext cx="1508760" cy="749808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2185416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223760" y="2642616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</a:rPr>
              <a:t>Top Feature Importances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" y="3337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TotalCharges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965960" y="3392424"/>
            <a:ext cx="3149194" cy="16459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22" name="Text 19"/>
          <p:cNvSpPr/>
          <p:nvPr/>
        </p:nvSpPr>
        <p:spPr>
          <a:xfrm>
            <a:off x="5188306" y="3337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13.1%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" y="36484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AvgCharges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965960" y="3703320"/>
            <a:ext cx="2976738" cy="16459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25" name="Text 22"/>
          <p:cNvSpPr/>
          <p:nvPr/>
        </p:nvSpPr>
        <p:spPr>
          <a:xfrm>
            <a:off x="5015850" y="36484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12.4%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20040" y="39593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MonthlyCharges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965960" y="4014216"/>
            <a:ext cx="2924251" cy="16459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28" name="Text 25"/>
          <p:cNvSpPr/>
          <p:nvPr/>
        </p:nvSpPr>
        <p:spPr>
          <a:xfrm>
            <a:off x="4963363" y="39593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12.2%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0040" y="4270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Tenure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965960" y="4325112"/>
            <a:ext cx="2879263" cy="16459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31" name="Text 28"/>
          <p:cNvSpPr/>
          <p:nvPr/>
        </p:nvSpPr>
        <p:spPr>
          <a:xfrm>
            <a:off x="4918375" y="42702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12.0%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004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2"/>
                </a:solidFill>
              </a:rPr>
              <a:t>Contract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965960" y="4636008"/>
            <a:ext cx="2496861" cy="164592"/>
          </a:xfrm>
          <a:prstGeom prst="rect">
            <a:avLst/>
          </a:prstGeom>
          <a:solidFill>
            <a:srgbClr val="6A5FC1"/>
          </a:solidFill>
          <a:ln/>
        </p:spPr>
      </p:sp>
      <p:sp>
        <p:nvSpPr>
          <p:cNvPr id="34" name="Text 31"/>
          <p:cNvSpPr/>
          <p:nvPr/>
        </p:nvSpPr>
        <p:spPr>
          <a:xfrm>
            <a:off x="4535973" y="458114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10.4%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77840" y="2971800"/>
            <a:ext cx="3291840" cy="1920240"/>
          </a:xfrm>
          <a:prstGeom prst="rect">
            <a:avLst/>
          </a:prstGeom>
          <a:solidFill>
            <a:srgbClr val="EEF4FF"/>
          </a:solidFill>
          <a:ln w="6350">
            <a:solidFill>
              <a:srgbClr val="BDD5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6928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Model Output Columns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669280" y="3474720"/>
            <a:ext cx="146304" cy="14630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97880" y="34290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Predicted_Churn (Yes / No)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669280" y="3822192"/>
            <a:ext cx="146304" cy="14630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97880" y="37764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Churn_Probability (0–100%)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669280" y="4169664"/>
            <a:ext cx="146304" cy="14630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97880" y="412394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Risk_Level (High / Medium / Low)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5669280" y="4517136"/>
            <a:ext cx="146304" cy="14630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97880" y="44714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Prediction integrated in Power BI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Insights — Key Discoveries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84048"/>
          </a:xfrm>
          <a:prstGeom prst="roundRect">
            <a:avLst>
              <a:gd name="adj" fmla="val 11905"/>
            </a:avLst>
          </a:prstGeom>
          <a:solidFill>
            <a:srgbClr val="EBF3FF"/>
          </a:solidFill>
          <a:ln w="5080">
            <a:solidFill>
              <a:srgbClr val="BDD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5A"/>
                </a:solidFill>
              </a:rPr>
              <a:t>The AI model identified clear behavioral patterns that predict churn with 80.4% accuracy — enabling proactive intervention.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6908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097280" cy="1572768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6916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15×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Risk difference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90472" y="15087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01  Contract is the #1 risk factor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90472" y="189280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Month-to-month customers churn at 42.7% vs 2.8% for two-year contracts — a 15× difference. Offering contract upgrades is the single most impactful retention action.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06908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1097280" cy="1572768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6916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&lt; 12mo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High-risk window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879592" y="150876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02  First 12 months are critical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79592" y="189280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Customers with tenure &lt; 12 months show the highest churn probability. An early engagement program (discounts, onboarding support) in the first quarter could cut churn significantly.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406908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00400"/>
            <a:ext cx="1097280" cy="1572768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474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41.9%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20040" y="4069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Fiber churn rate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490472" y="32918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03  Fiber Optic users are over-paying &amp; churning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90472" y="367588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Fiber customers pay the most ($91 avg) yet churn at 41.9%. The model flags this as a value-perception issue — these customers need quality improvements or pricing adjustments.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200400"/>
            <a:ext cx="406908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200400"/>
            <a:ext cx="1097280" cy="1572768"/>
          </a:xfrm>
          <a:prstGeom prst="rect">
            <a:avLst/>
          </a:prstGeom>
          <a:solidFill>
            <a:srgbClr val="0D8A65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4747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423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09160" y="4069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Customers at risk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79592" y="3291840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04  423 customers flagged as High Risk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79592" y="3675888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2"/>
                </a:solidFill>
              </a:rPr>
              <a:t>The model identified 423 High Risk customers (&gt;60% churn probability). Targeting this group with retention offers could save approximately $39K in monthly recurring revenue.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73152" cy="6858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78992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D9404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07899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17320" y="987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Target month-to-month contract customers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17320" y="1280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Offer 20–30% discount to switch to annual contracts within first 6 months.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49240" y="1005840"/>
            <a:ext cx="333756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1005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C4"/>
                </a:solidFill>
              </a:rPr>
              <a:t>Expected Impact: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40680" y="1207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Could reduce churn by up to 15%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19072"/>
            <a:ext cx="73152" cy="6858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1883664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D9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8836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17320" y="1792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Early intervention for new customers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17320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Automated onboarding program for customers with tenure &lt; 3 months.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49240" y="1810512"/>
            <a:ext cx="333756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1810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C4"/>
                </a:solidFill>
              </a:rPr>
              <a:t>Expected Impact: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0680" y="2011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Reduces 1st-year churn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523744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523744"/>
            <a:ext cx="73152" cy="685800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2688336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D4890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6883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417320" y="2596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Investigate Fiber Optic quality issues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17320" y="28895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Survey Fiber users about service quality. Consider price adjustment or SLA.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2615184"/>
            <a:ext cx="333756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261518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C4"/>
                </a:solidFill>
              </a:rPr>
              <a:t>Expected Impact: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40680" y="28163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Recover 41.9% churn segment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328416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328416"/>
            <a:ext cx="73152" cy="685800"/>
          </a:xfrm>
          <a:prstGeom prst="rect">
            <a:avLst/>
          </a:prstGeom>
          <a:solidFill>
            <a:srgbClr val="D4890A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3493008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D4890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930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417320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Replace Electronic Check payment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417320" y="3694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Incentivize auto-pay (credit card / bank transfer) with small monthly credit.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49240" y="3419856"/>
            <a:ext cx="333756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40680" y="34198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C4"/>
                </a:solidFill>
              </a:rPr>
              <a:t>Expected Impact: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40680" y="3621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Reduces highest-churn payment method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133088"/>
            <a:ext cx="8503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4133088"/>
            <a:ext cx="73152" cy="68580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42" name="Shape 40"/>
          <p:cNvSpPr/>
          <p:nvPr/>
        </p:nvSpPr>
        <p:spPr>
          <a:xfrm>
            <a:off x="502920" y="4297680"/>
            <a:ext cx="804672" cy="256032"/>
          </a:xfrm>
          <a:prstGeom prst="roundRect">
            <a:avLst>
              <a:gd name="adj" fmla="val 14286"/>
            </a:avLst>
          </a:prstGeom>
          <a:solidFill>
            <a:srgbClr val="2E6FC4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29768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41732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5A"/>
                </a:solidFill>
              </a:rPr>
              <a:t>Senior citizen loyalty program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417320" y="44988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Dedicated support line and simplified plans for SeniorCitizen = 1 segment.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49240" y="4224528"/>
            <a:ext cx="3337560" cy="50292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40680" y="42245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C4"/>
                </a:solidFill>
              </a:rPr>
              <a:t>Expected Impact: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440680" y="44256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2"/>
                </a:solidFill>
              </a:rPr>
              <a:t>Captures underserved segment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243C75"/>
          </a:solidFill>
          <a:ln w="12700">
            <a:solidFill>
              <a:srgbClr val="243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237744" cy="23774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12471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Gradient Boosting achieved 80.4% accuracy and AUC-ROC of 0.843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237744" cy="23774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3794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Contract type, tenure, and charges are the top 3 churn predictors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37744" cy="23774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551176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423 high-risk customers identified — ready for immediate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237744" cy="23774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6440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3-page Power BI dashboard integrates AI predictions with business KPIs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237744" cy="237744"/>
          </a:xfrm>
          <a:prstGeom prst="ellipse">
            <a:avLst/>
          </a:prstGeom>
          <a:solidFill>
            <a:srgbClr val="2E6FC4"/>
          </a:solidFill>
          <a:ln w="12700">
            <a:solidFill>
              <a:srgbClr val="2E6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776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 cleaned in Excel ensures reliable analysis and model performance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645152"/>
            <a:ext cx="3200400" cy="36576"/>
          </a:xfrm>
          <a:prstGeom prst="rect">
            <a:avLst/>
          </a:prstGeom>
          <a:solidFill>
            <a:srgbClr val="2E6F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Thank you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4"/>
                </a:solidFill>
              </a:rPr>
              <a:t>Rawda Hesham Elsayed Nada  ·  Customer Churn Prediction  ·  2024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95604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7AAA"/>
                </a:solidFill>
              </a:rPr>
              <a:t>Dataset: drive.google.com/file/d/17VbXZPUjx3Xzho_fVNbszbf0wmALx05v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Dashboard</dc:title>
  <dc:subject>PptxGenJS Presentation</dc:subject>
  <dc:creator>PptxGenJS</dc:creator>
  <cp:lastModifiedBy>PptxGenJS</cp:lastModifiedBy>
  <cp:revision>1</cp:revision>
  <dcterms:created xsi:type="dcterms:W3CDTF">2026-04-11T06:49:25Z</dcterms:created>
  <dcterms:modified xsi:type="dcterms:W3CDTF">2026-04-11T06:49:25Z</dcterms:modified>
</cp:coreProperties>
</file>